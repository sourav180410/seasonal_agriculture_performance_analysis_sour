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870000"/>
            <a:ext cx="6500000" cy="700000"/>
          </a:xfrm>
        </p:spPr>
        <p:txBody>
          <a:bodyPr vert="horz" lIns="91440" tIns="45720" rIns="91440" bIns="45720" rtlCol="0" anchor="t">
            <a:normAutofit/>
          </a:bodyPr>
          <a:lstStyle/>
          <a:p>
            <a:pPr algn="l"/>
            <a:r>
              <a:rPr lang="en-US" b="0" dirty="0" sz="2000">
                <a:solidFill>
                  <a:schemeClr val="tx1"/>
                </a:solidFill>
              </a:rPr>
              <a:t>Sourav</a:t>
            </a:r>
            <a:endParaRPr lang="en-IN" b="0" dirty="0">
              <a:solidFill>
                <a:schemeClr val="tx1"/>
              </a:solidFill>
            </a:endParaRPr>
          </a:p>
          <a:p>
            <a:pPr algn="l"/>
            <a:r>
              <a:rPr lang="en-US" b="0" dirty="0" sz="2000">
                <a:solidFill>
                  <a:schemeClr val="tx1"/>
                </a:solidFill>
              </a:rPr>
              <a:t>Hindu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650000"/>
            <a:ext cx="6500000" cy="1150000"/>
          </a:xfrm>
        </p:spPr>
        <p:txBody>
          <a:bodyPr>
            <a:normAutofit/>
          </a:bodyPr>
          <a:lstStyle/>
          <a:p>
            <a:r>
              <a:rPr lang="en-GB" sz="3600" dirty="0" b="1"/>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8364" y="4680000"/>
            <a:ext cx="7000000" cy="400000"/>
          </a:xfrm>
          <a:prstGeom prst="rect">
            <a:avLst/>
          </a:prstGeom>
          <a:noFill/>
        </p:spPr>
        <p:txBody>
          <a:bodyPr wrap="none" rtlCol="0">
            <a:spAutoFit/>
          </a:bodyPr>
          <a:lstStyle/>
          <a:p>
            <a:pPr algn="l"/>
            <a:r>
              <a:rPr lang="en-US" b="1" dirty="0" sz="1800"/>
              <a:t>AICTE STU ID: STU682734490127a1747399753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0" name="Description Body"/>
          <p:cNvSpPr txBox="1"/>
          <p:nvPr/>
        </p:nvSpPr>
        <p:spPr>
          <a:xfrm>
            <a:off x="660399" y="1780000"/>
            <a:ext cx="10850000" cy="4500000"/>
          </a:xfrm>
          <a:prstGeom prst="rect">
            <a:avLst/>
          </a:prstGeom>
        </p:spPr>
        <p:txBody>
          <a:bodyPr wrap="square">
            <a:normAutofit/>
          </a:bodyPr>
          <a:lstStyle/>
          <a:p>
            <a:pPr>
              <a:buNone/>
            </a:pPr>
            <a:r>
              <a:rPr lang="en-US" sz="1600" dirty="0"/>
              <a:t>This project analyzes a farm-level agricultural dataset covering 8 Indian states, 8 crops and three growing seasons – Kharif, Rabi and Zaid – to understand how agricultural performance changes across seasons and what patterns explain those differences. It is a pure data analytics project (no Machine Learning), carried out end-to-end in Python on Google Colab.</a:t>
            </a:r>
          </a:p>
          <a:p>
            <a:pPr marL="285750" indent="-285750">
              <a:buFont typeface="Arial"/>
              <a:buChar char="•"/>
            </a:pPr>
            <a:r>
              <a:rPr lang="en-US" sz="1500" dirty="0"/>
              <a:t>Cleaned and prepared the raw dataset – handled missing values with justified median imputation, checked for duplicate records and verified data types.</a:t>
            </a:r>
          </a:p>
          <a:p>
            <a:pPr marL="285750" indent="-285750">
              <a:buFont typeface="Arial"/>
              <a:buChar char="•"/>
            </a:pPr>
            <a:r>
              <a:rPr lang="en-US" sz="1500" dirty="0"/>
              <a:t>Performed descriptive statistics, IQR-based outlier detection, and univariate, bivariate and multivariate analysis on the cleaned data.</a:t>
            </a:r>
          </a:p>
          <a:p>
            <a:pPr marL="285750" indent="-285750">
              <a:buFont typeface="Arial"/>
              <a:buChar char="•"/>
            </a:pPr>
            <a:r>
              <a:rPr lang="en-US" sz="1500" dirty="0"/>
              <a:t>Investigated correlations between environmental conditions, resource usage and economic outcomes such as yield and profit.</a:t>
            </a:r>
          </a:p>
          <a:p>
            <a:pPr marL="285750" indent="-285750">
              <a:buFont typeface="Arial"/>
              <a:buChar char="•"/>
            </a:pPr>
            <a:r>
              <a:rPr lang="en-US" sz="1500" dirty="0"/>
              <a:t>Compared yield, profit and resource efficiency across Kharif, Rabi and Zaid to identify the strongest and weakest seasons.</a:t>
            </a:r>
          </a:p>
          <a:p>
            <a:pPr marL="285750" indent="-285750">
              <a:buFont typeface="Arial"/>
              <a:buChar char="•"/>
            </a:pPr>
            <a:r>
              <a:rPr lang="en-US" sz="1500" dirty="0"/>
              <a:t>Carried out four independent student-designed analyses: irrigation method efficiency, crop profitability, state-wise seasonal profitability and disease/pest risk vs yield.</a:t>
            </a:r>
          </a:p>
          <a:p>
            <a:pPr marL="285750" indent="-285750">
              <a:buFont typeface="Arial"/>
              <a:buChar char="•"/>
            </a:pPr>
            <a:r>
              <a:rPr lang="en-US" sz="1500" dirty="0"/>
              <a:t>Delivered 10 evidence-based insights and data-driven recommendations to support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285750" indent="-285750">
              <a:lnSpc>
                <a:spcPct val="115000"/>
              </a:lnSpc>
              <a:buFont typeface="Arial"/>
              <a:buChar char="•"/>
            </a:pPr>
            <a:r>
              <a:rPr lang="en-US" sz="2000" b="1" dirty="0"/>
              <a:t>Farmers and agricultural cooperatives</a:t>
            </a:r>
            <a:r>
              <a:rPr lang="en-US" sz="2000" dirty="0"/>
              <a:t> – to plan crop, irrigation and input choices season-wise.</a:t>
            </a:r>
          </a:p>
          <a:p>
            <a:pPr marL="285750" indent="-285750">
              <a:lnSpc>
                <a:spcPct val="115000"/>
              </a:lnSpc>
              <a:buFont typeface="Arial"/>
              <a:buChar char="•"/>
            </a:pPr>
            <a:r>
              <a:rPr lang="en-US" sz="2000" b="1" dirty="0"/>
              <a:t>State agriculture departments and policymakers</a:t>
            </a:r>
            <a:r>
              <a:rPr lang="en-US" sz="2000" dirty="0"/>
              <a:t> – for evidence-based seasonal agricultural planning.</a:t>
            </a:r>
          </a:p>
          <a:p>
            <a:pPr marL="285750" indent="-285750">
              <a:lnSpc>
                <a:spcPct val="115000"/>
              </a:lnSpc>
              <a:buFont typeface="Arial"/>
              <a:buChar char="•"/>
            </a:pPr>
            <a:r>
              <a:rPr lang="en-US" sz="2000" b="1" dirty="0"/>
              <a:t>Agri-tech and precision farming companies</a:t>
            </a:r>
            <a:r>
              <a:rPr lang="en-US" sz="2000" dirty="0"/>
              <a:t> – to fine-tune irrigation and resource-efficiency products.</a:t>
            </a:r>
          </a:p>
          <a:p>
            <a:pPr marL="285750" indent="-285750">
              <a:lnSpc>
                <a:spcPct val="115000"/>
              </a:lnSpc>
              <a:buFont typeface="Arial"/>
              <a:buChar char="•"/>
            </a:pPr>
            <a:r>
              <a:rPr lang="en-US" sz="2000" b="1" dirty="0"/>
              <a:t>Agricultural researchers and extension officers</a:t>
            </a:r>
            <a:r>
              <a:rPr lang="en-US" sz="2000" dirty="0"/>
              <a:t> – to study seasonal performance patterns further.</a:t>
            </a:r>
          </a:p>
          <a:p>
            <a:pPr marL="285750" indent="-285750">
              <a:lnSpc>
                <a:spcPct val="115000"/>
              </a:lnSpc>
              <a:buFont typeface="Arial"/>
              <a:buChar char="•"/>
            </a:pPr>
            <a:r>
              <a:rPr lang="en-US" sz="2000" b="1" dirty="0"/>
              <a:t>Banks, crop insurers and microfinance providers</a:t>
            </a:r>
            <a:r>
              <a:rPr lang="en-US" sz="2000" dirty="0"/>
              <a:t> – to assess seasonal risk for lending and insurance.</a:t>
            </a:r>
          </a:p>
          <a:p>
            <a:pPr marL="285750" indent="-285750">
              <a:lnSpc>
                <a:spcPct val="115000"/>
              </a:lnSpc>
              <a:buFont typeface="Arial"/>
              <a:buChar char="•"/>
            </a:pPr>
            <a:r>
              <a:rPr lang="en-US" sz="2000" b="1" dirty="0"/>
              <a:t>Agri-input suppliers and market/mandi bodies</a:t>
            </a:r>
            <a:r>
              <a:rPr lang="en-US" sz="2000" dirty="0"/>
              <a:t> – to align supply with seasonal profitability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marL="285750" indent="-285750">
              <a:lnSpc>
                <a:spcPct val="130000"/>
              </a:lnSpc>
              <a:buFont typeface="Arial"/>
              <a:buChar char="•"/>
            </a:pPr>
            <a:r>
              <a:rPr lang="en-US" sz="2000" b="1" dirty="0"/>
              <a:t>Programming Language: </a:t>
            </a:r>
            <a:r>
              <a:rPr lang="en-US" sz="2000" dirty="0"/>
              <a:t>Python</a:t>
            </a:r>
          </a:p>
          <a:p>
            <a:pPr marL="285750" indent="-285750">
              <a:lnSpc>
                <a:spcPct val="130000"/>
              </a:lnSpc>
              <a:buFont typeface="Arial"/>
              <a:buChar char="•"/>
            </a:pPr>
            <a:r>
              <a:rPr lang="en-US" sz="2000" b="1" dirty="0"/>
              <a:t>Data Handling: </a:t>
            </a:r>
            <a:r>
              <a:rPr lang="en-US" sz="2000" dirty="0"/>
              <a:t>Pandas, NumPy</a:t>
            </a:r>
          </a:p>
          <a:p>
            <a:pPr marL="285750" indent="-285750">
              <a:lnSpc>
                <a:spcPct val="130000"/>
              </a:lnSpc>
              <a:buFont typeface="Arial"/>
              <a:buChar char="•"/>
            </a:pPr>
            <a:r>
              <a:rPr lang="en-US" sz="2000" b="1" dirty="0"/>
              <a:t>Visualization: </a:t>
            </a:r>
            <a:r>
              <a:rPr lang="en-US" sz="2000" dirty="0"/>
              <a:t>Matplotlib, Seaborn</a:t>
            </a:r>
          </a:p>
          <a:p>
            <a:pPr marL="285750" indent="-285750">
              <a:lnSpc>
                <a:spcPct val="130000"/>
              </a:lnSpc>
              <a:buFont typeface="Arial"/>
              <a:buChar char="•"/>
            </a:pPr>
            <a:r>
              <a:rPr lang="en-US" sz="2000" b="1" dirty="0"/>
              <a:t>Development Environment: </a:t>
            </a:r>
            <a:r>
              <a:rPr lang="en-US" sz="2000" dirty="0"/>
              <a:t>Google Colab / Jupyter Notebook</a:t>
            </a:r>
          </a:p>
          <a:p>
            <a:pPr marL="285750" indent="-285750">
              <a:lnSpc>
                <a:spcPct val="130000"/>
              </a:lnSpc>
              <a:buFont typeface="Arial"/>
              <a:buChar char="•"/>
            </a:pPr>
            <a:r>
              <a:rPr lang="en-US" sz="2000" b="1" dirty="0"/>
              <a:t>Version Control &amp; Hosting: </a:t>
            </a:r>
            <a:r>
              <a:rPr lang="en-US" sz="2000" dirty="0"/>
              <a:t>Git, GitHub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07164" y="1431693"/>
            <a:ext cx="8500000" cy="500000"/>
          </a:xfrm>
          <a:prstGeom prst="rect">
            <a:avLst/>
          </a:prstGeom>
          <a:noFill/>
        </p:spPr>
        <p:txBody>
          <a:bodyPr wrap="square">
            <a:spAutoFit/>
          </a:bodyPr>
          <a:lstStyle/>
          <a:p>
            <a:r>
              <a:rPr sz="2000">
                <a:solidFill>
                  <a:srgbClr val="000000"/>
                </a:solidFill>
              </a:rPr>
              <a:t>Distribution of Records: Season and Crop</a:t>
            </a:r>
          </a:p>
        </p:txBody>
      </p:sp>
      <p:pic>
        <p:nvPicPr>
          <p:cNvPr id="25" name="Picture 24" descr="chart_A_distribution.png"/>
          <p:cNvPicPr>
            <a:picLocks noChangeAspect="1"/>
          </p:cNvPicPr>
          <p:nvPr/>
        </p:nvPicPr>
        <p:blipFill>
          <a:blip r:embed="rId3"/>
          <a:stretch>
            <a:fillRect/>
          </a:stretch>
        </p:blipFill>
        <p:spPr>
          <a:xfrm>
            <a:off x="675957" y="1950000"/>
            <a:ext cx="8500000" cy="359726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Seasonal Yield &amp; Profit Comparison</a:t>
            </a:r>
            <a:endParaRPr lang="en-IN" dirty="0"/>
          </a:p>
        </p:txBody>
      </p:sp>
      <p:pic>
        <p:nvPicPr>
          <p:cNvPr id="31" name="Picture 30" descr="chart_B_seasonal_comparison.png"/>
          <p:cNvPicPr>
            <a:picLocks noChangeAspect="1"/>
          </p:cNvPicPr>
          <p:nvPr/>
        </p:nvPicPr>
        <p:blipFill>
          <a:blip r:embed="rId3"/>
          <a:stretch>
            <a:fillRect/>
          </a:stretch>
        </p:blipFill>
        <p:spPr>
          <a:xfrm>
            <a:off x="675957" y="2000000"/>
            <a:ext cx="8500000" cy="317345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8500000" cy="500000"/>
          </a:xfrm>
        </p:spPr>
        <p:txBody>
          <a:bodyPr wrap="square"/>
          <a:lstStyle/>
          <a:p>
            <a:pPr marL="0" indent="0">
              <a:buNone/>
            </a:pPr>
            <a:r>
              <a:rPr lang="en-US" dirty="0"/>
              <a:t>Correlation Analysis of Key Variables</a:t>
            </a:r>
            <a:endParaRPr lang="en-IN" dirty="0"/>
          </a:p>
        </p:txBody>
      </p:sp>
      <p:pic>
        <p:nvPicPr>
          <p:cNvPr id="31" name="Picture 30" descr="chart_C_correlation.png"/>
          <p:cNvPicPr>
            <a:picLocks noChangeAspect="1"/>
          </p:cNvPicPr>
          <p:nvPr/>
        </p:nvPicPr>
        <p:blipFill>
          <a:blip r:embed="rId3"/>
          <a:stretch>
            <a:fillRect/>
          </a:stretch>
        </p:blipFill>
        <p:spPr>
          <a:xfrm>
            <a:off x="2296219" y="2000000"/>
            <a:ext cx="5259475" cy="435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8500000" cy="500000"/>
          </a:xfrm>
        </p:spPr>
        <p:txBody>
          <a:bodyPr wrap="square"/>
          <a:lstStyle/>
          <a:p>
            <a:pPr marL="0" indent="0">
              <a:buNone/>
            </a:pPr>
            <a:r>
              <a:rPr lang="en-US" dirty="0"/>
              <a:t>Irrigation Method: Yield &amp; Water Efficiency</a:t>
            </a:r>
            <a:endParaRPr lang="en-IN" dirty="0"/>
          </a:p>
        </p:txBody>
      </p:sp>
      <p:pic>
        <p:nvPicPr>
          <p:cNvPr id="31" name="Picture 30" descr="chart_D_irrigation.png"/>
          <p:cNvPicPr>
            <a:picLocks noChangeAspect="1"/>
          </p:cNvPicPr>
          <p:nvPr/>
        </p:nvPicPr>
        <p:blipFill>
          <a:blip r:embed="rId3"/>
          <a:stretch>
            <a:fillRect/>
          </a:stretch>
        </p:blipFill>
        <p:spPr>
          <a:xfrm>
            <a:off x="675957" y="2000000"/>
            <a:ext cx="8500000" cy="317345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8500000" cy="500000"/>
          </a:xfrm>
        </p:spPr>
        <p:txBody>
          <a:bodyPr wrap="square"/>
          <a:lstStyle/>
          <a:p>
            <a:pPr marL="0" indent="0">
              <a:buNone/>
            </a:pPr>
            <a:r>
              <a:rPr lang="en-US" dirty="0"/>
              <a:t>State-wise Profitability Across Seasons</a:t>
            </a:r>
            <a:endParaRPr lang="en-IN" dirty="0"/>
          </a:p>
        </p:txBody>
      </p:sp>
      <p:pic>
        <p:nvPicPr>
          <p:cNvPr id="31" name="Picture 30" descr="chart_E_state_season.png"/>
          <p:cNvPicPr>
            <a:picLocks noChangeAspect="1"/>
          </p:cNvPicPr>
          <p:nvPr/>
        </p:nvPicPr>
        <p:blipFill>
          <a:blip r:embed="rId3"/>
          <a:stretch>
            <a:fillRect/>
          </a:stretch>
        </p:blipFill>
        <p:spPr>
          <a:xfrm>
            <a:off x="2279485" y="2000000"/>
            <a:ext cx="5292944" cy="43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 name="Future Scope Body"/>
          <p:cNvSpPr txBox="1"/>
          <p:nvPr/>
        </p:nvSpPr>
        <p:spPr>
          <a:xfrm>
            <a:off x="675957" y="2000000"/>
            <a:ext cx="10800000" cy="4300000"/>
          </a:xfrm>
          <a:prstGeom prst="rect">
            <a:avLst/>
          </a:prstGeom>
        </p:spPr>
        <p:txBody>
          <a:bodyPr wrap="square">
            <a:normAutofit/>
          </a:bodyPr>
          <a:lstStyle/>
          <a:p>
            <a:pPr marL="285750" indent="-285750">
              <a:lnSpc>
                <a:spcPct val="130000"/>
              </a:lnSpc>
              <a:buFont typeface="Arial"/>
              <a:buChar char="•"/>
            </a:pPr>
            <a:r>
              <a:rPr lang="en-US" sz="1800" dirty="0"/>
              <a:t>Extend the dataset to a multi-year time series to study year-on-year seasonal trends rather than a single-year snapshot.</a:t>
            </a:r>
          </a:p>
          <a:p>
            <a:pPr marL="285750" indent="-285750">
              <a:lnSpc>
                <a:spcPct val="130000"/>
              </a:lnSpc>
              <a:buFont typeface="Arial"/>
              <a:buChar char="•"/>
            </a:pPr>
            <a:r>
              <a:rPr lang="en-US" sz="1800" dirty="0"/>
              <a:t>Build an interactive dashboard (e.g. Power BI / Tableau) for real-time seasonal performance monitoring.</a:t>
            </a:r>
          </a:p>
          <a:p>
            <a:pPr marL="285750" indent="-285750">
              <a:lnSpc>
                <a:spcPct val="130000"/>
              </a:lnSpc>
              <a:buFont typeface="Arial"/>
              <a:buChar char="•"/>
            </a:pPr>
            <a:r>
              <a:rPr lang="en-US" sz="1800" dirty="0"/>
              <a:t>Incorporate weather forecast data to move from descriptive analysis toward predictive seasonal planning.</a:t>
            </a:r>
          </a:p>
          <a:p>
            <a:pPr marL="285750" indent="-285750">
              <a:lnSpc>
                <a:spcPct val="130000"/>
              </a:lnSpc>
              <a:buFont typeface="Arial"/>
              <a:buChar char="•"/>
            </a:pPr>
            <a:r>
              <a:rPr lang="en-US" sz="1800" dirty="0"/>
              <a:t>Expand coverage to more states, crops and irrigation methods for broader generalizability of the findings.</a:t>
            </a:r>
          </a:p>
          <a:p>
            <a:pPr marL="285750" indent="-285750">
              <a:lnSpc>
                <a:spcPct val="130000"/>
              </a:lnSpc>
              <a:buFont typeface="Arial"/>
              <a:buChar char="•"/>
            </a:pPr>
            <a:r>
              <a:rPr lang="en-US" sz="1800" dirty="0"/>
              <a:t>Investigate the disease/pest risk metric further with more granular, crop-specific data to explain its weak link with yield.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ificate-1.png"/>
          <p:cNvPicPr>
            <a:picLocks noChangeAspect="1"/>
          </p:cNvPicPr>
          <p:nvPr/>
        </p:nvPicPr>
        <p:blipFill>
          <a:blip r:embed="rId3"/>
          <a:stretch>
            <a:fillRect/>
          </a:stretch>
        </p:blipFill>
        <p:spPr>
          <a:xfrm>
            <a:off x="1739431" y="1350000"/>
            <a:ext cx="7073052" cy="50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