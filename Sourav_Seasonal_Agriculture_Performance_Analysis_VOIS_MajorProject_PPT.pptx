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8" r:id="rId27"/>
    <p:sldId id="349" r:id="rId28"/>
    <p:sldId id="347" r:id="rId26"/>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  <Relationship Id="rId26" Type="http://schemas.openxmlformats.org/officeDocument/2006/relationships/slide" Target="slides/slide15.xml"/>
  <Relationship Id="rId27" Type="http://schemas.openxmlformats.org/officeDocument/2006/relationships/slide" Target="slides/slide16.xml"/>
  <Relationship Id="rId28" Type="http://schemas.openxmlformats.org/officeDocument/2006/relationships/slide" Target="slides/slide17.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9.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hyperlink" Target="https://github.com/Sourav180410/Seasonal_Agriculture_Performance_Analysis_Sour.gi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21.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8364" y="3870000"/>
            <a:ext cx="6500000" cy="700000"/>
          </a:xfrm>
        </p:spPr>
        <p:txBody>
          <a:bodyPr vert="horz" lIns="91440" tIns="45720" rIns="91440" bIns="45720" rtlCol="0" anchor="t">
            <a:normAutofit/>
          </a:bodyPr>
          <a:lstStyle/>
          <a:p>
            <a:pPr algn="l"/>
            <a:r>
              <a:rPr lang="en-US" b="0" dirty="0" sz="2000">
                <a:solidFill>
                  <a:schemeClr val="tx1"/>
                </a:solidFill>
              </a:rPr>
              <a:t>Sourav</a:t>
            </a:r>
            <a:endParaRPr lang="en-IN" b="0" dirty="0">
              <a:solidFill>
                <a:schemeClr val="tx1"/>
              </a:solidFill>
            </a:endParaRPr>
          </a:p>
          <a:p>
            <a:pPr algn="l"/>
            <a:r>
              <a:rPr lang="en-US" b="0" dirty="0" sz="2000">
                <a:solidFill>
                  <a:schemeClr val="tx1"/>
                </a:solidFill>
              </a:rPr>
              <a:t>Hindu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650000"/>
            <a:ext cx="6500000" cy="1150000"/>
          </a:xfrm>
        </p:spPr>
        <p:txBody>
          <a:bodyPr>
            <a:normAutofit/>
          </a:bodyPr>
          <a:lstStyle/>
          <a:p>
            <a:r>
              <a:rPr lang="en-GB" sz="3600" dirty="0" b="1"/>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8364" y="4680000"/>
            <a:ext cx="7000000" cy="400000"/>
          </a:xfrm>
          <a:prstGeom prst="rect">
            <a:avLst/>
          </a:prstGeom>
          <a:noFill/>
        </p:spPr>
        <p:txBody>
          <a:bodyPr wrap="none" rtlCol="0">
            <a:spAutoFit/>
          </a:bodyPr>
          <a:lstStyle/>
          <a:p>
            <a:pPr algn="l"/>
            <a:r>
              <a:rPr lang="en-US" b="1" dirty="0" sz="1800"/>
              <a:t>AICTE STU ID: STU682734490127a1747399753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0" name="Description Body"/>
          <p:cNvSpPr txBox="1"/>
          <p:nvPr/>
        </p:nvSpPr>
        <p:spPr>
          <a:xfrm>
            <a:off x="660399" y="1780000"/>
            <a:ext cx="10850000" cy="4500000"/>
          </a:xfrm>
          <a:prstGeom prst="rect">
            <a:avLst/>
          </a:prstGeom>
        </p:spPr>
        <p:txBody>
          <a:bodyPr wrap="square">
            <a:normAutofit/>
          </a:bodyPr>
          <a:lstStyle/>
          <a:p>
            <a:pPr>
              <a:buNone/>
            </a:pPr>
            <a:r>
              <a:rPr lang="en-US" sz="1600" dirty="0"/>
              <a:t>This project analyzes a farm-level agricultural dataset covering 8 Indian states, 8 crops and three growing seasons – Kharif, Rabi and Zaid – to understand how agricultural performance changes across seasons and what patterns explain those differences. It is a pure data analytics project (no Machine Learning), carried out end-to-end in Python on Google Colab.</a:t>
            </a:r>
          </a:p>
          <a:p>
            <a:pPr marL="285750" indent="-285750">
              <a:buFont typeface="Arial"/>
              <a:buChar char="•"/>
            </a:pPr>
            <a:r>
              <a:rPr lang="en-US" sz="1500" dirty="0"/>
              <a:t>Cleaned and prepared the raw dataset – handled missing values with justified median imputation, checked for duplicate records and verified data types.</a:t>
            </a:r>
          </a:p>
          <a:p>
            <a:pPr marL="285750" indent="-285750">
              <a:buFont typeface="Arial"/>
              <a:buChar char="•"/>
            </a:pPr>
            <a:r>
              <a:rPr lang="en-US" sz="1500" dirty="0"/>
              <a:t>Performed descriptive statistics, IQR-based outlier detection, and univariate, bivariate and multivariate analysis on the cleaned data.</a:t>
            </a:r>
          </a:p>
          <a:p>
            <a:pPr marL="285750" indent="-285750">
              <a:buFont typeface="Arial"/>
              <a:buChar char="•"/>
            </a:pPr>
            <a:r>
              <a:rPr lang="en-US" sz="1500" dirty="0"/>
              <a:t>Investigated correlations between environmental conditions, resource usage and economic outcomes such as yield and profit.</a:t>
            </a:r>
          </a:p>
          <a:p>
            <a:pPr marL="285750" indent="-285750">
              <a:buFont typeface="Arial"/>
              <a:buChar char="•"/>
            </a:pPr>
            <a:r>
              <a:rPr lang="en-US" sz="1500" dirty="0"/>
              <a:t>Compared yield, profit and resource efficiency across Kharif, Rabi and Zaid to identify the strongest and weakest seasons.</a:t>
            </a:r>
          </a:p>
          <a:p>
            <a:pPr marL="285750" indent="-285750">
              <a:buFont typeface="Arial"/>
              <a:buChar char="•"/>
            </a:pPr>
            <a:r>
              <a:rPr lang="en-US" sz="1500" dirty="0"/>
              <a:t>Carried out four independent student-designed analyses: irrigation method efficiency, crop profitability, state-wise seasonal profitability and disease/pest risk vs yield.</a:t>
            </a:r>
          </a:p>
          <a:p>
            <a:pPr marL="285750" indent="-285750">
              <a:buFont typeface="Arial"/>
              <a:buChar char="•"/>
            </a:pPr>
            <a:r>
              <a:rPr lang="en-US" sz="1500" dirty="0"/>
              <a:t>Delivered 10 evidence-based insights and data-driven recommendations to support better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4300000"/>
          </a:xfrm>
        </p:spPr>
        <p:txBody>
          <a:bodyPr>
            <a:normAutofit/>
          </a:bodyPr>
          <a:lstStyle/>
          <a:p>
            <a:pPr marL="285750" indent="-285750">
              <a:lnSpc>
                <a:spcPct val="106000"/>
              </a:lnSpc>
              <a:buFont typeface="Arial"/>
              <a:buChar char="•"/>
            </a:pPr>
            <a:r>
              <a:rPr lang="en-US" sz="1800" b="1" dirty="0"/>
              <a:t>Farmers and agricultural cooperatives</a:t>
            </a:r>
            <a:r>
              <a:rPr lang="en-US" sz="1800" dirty="0"/>
              <a:t> – to plan crop, irrigation and input choices season-wise.</a:t>
            </a:r>
          </a:p>
          <a:p>
            <a:pPr marL="285750" indent="-285750">
              <a:lnSpc>
                <a:spcPct val="106000"/>
              </a:lnSpc>
              <a:buFont typeface="Arial"/>
              <a:buChar char="•"/>
            </a:pPr>
            <a:r>
              <a:rPr lang="en-US" sz="1800" b="1" dirty="0"/>
              <a:t>State agriculture departments and policymakers</a:t>
            </a:r>
            <a:r>
              <a:rPr lang="en-US" sz="1800" dirty="0"/>
              <a:t> – for evidence-based seasonal agricultural planning.</a:t>
            </a:r>
          </a:p>
          <a:p>
            <a:pPr marL="285750" indent="-285750">
              <a:lnSpc>
                <a:spcPct val="106000"/>
              </a:lnSpc>
              <a:buFont typeface="Arial"/>
              <a:buChar char="•"/>
            </a:pPr>
            <a:r>
              <a:rPr lang="en-US" sz="1800" b="1" dirty="0"/>
              <a:t>Agri-tech and precision farming companies</a:t>
            </a:r>
            <a:r>
              <a:rPr lang="en-US" sz="1800" dirty="0"/>
              <a:t> – to fine-tune irrigation and resource-efficiency products.</a:t>
            </a:r>
          </a:p>
          <a:p>
            <a:pPr marL="285750" indent="-285750">
              <a:lnSpc>
                <a:spcPct val="106000"/>
              </a:lnSpc>
              <a:buFont typeface="Arial"/>
              <a:buChar char="•"/>
            </a:pPr>
            <a:r>
              <a:rPr lang="en-US" sz="1800" b="1" dirty="0"/>
              <a:t>Agricultural researchers and extension officers</a:t>
            </a:r>
            <a:r>
              <a:rPr lang="en-US" sz="1800" dirty="0"/>
              <a:t> – to study seasonal performance patterns further.</a:t>
            </a:r>
          </a:p>
          <a:p>
            <a:pPr marL="285750" indent="-285750">
              <a:lnSpc>
                <a:spcPct val="106000"/>
              </a:lnSpc>
              <a:buFont typeface="Arial"/>
              <a:buChar char="•"/>
            </a:pPr>
            <a:r>
              <a:rPr lang="en-US" sz="1800" b="1" dirty="0"/>
              <a:t>Banks, crop insurers and microfinance providers</a:t>
            </a:r>
            <a:r>
              <a:rPr lang="en-US" sz="1800" dirty="0"/>
              <a:t> – to assess seasonal risk for lending and insurance.</a:t>
            </a:r>
          </a:p>
          <a:p>
            <a:pPr marL="285750" indent="-285750">
              <a:lnSpc>
                <a:spcPct val="106000"/>
              </a:lnSpc>
              <a:buFont typeface="Arial"/>
              <a:buChar char="•"/>
            </a:pPr>
            <a:r>
              <a:rPr lang="en-US" sz="1800" b="1" dirty="0"/>
              <a:t>Agri-input suppliers and market/mandi bodies</a:t>
            </a:r>
            <a:r>
              <a:rPr lang="en-US" sz="1800" dirty="0"/>
              <a:t> – to align supply with seasonal profitability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18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320" cy="5243448"/>
          </a:xfrm>
        </p:spPr>
        <p:txBody>
          <a:bodyPr/>
          <a:lstStyle/>
          <a:p>
            <a:pPr marL="285750" indent="-285750">
              <a:lnSpc>
                <a:spcPct val="130000"/>
              </a:lnSpc>
              <a:buFont typeface="Arial"/>
              <a:buChar char="•"/>
            </a:pPr>
            <a:r>
              <a:rPr lang="en-US" sz="2000" b="1" dirty="0"/>
              <a:t>Programming Language: </a:t>
            </a:r>
            <a:r>
              <a:rPr lang="en-US" sz="2000" dirty="0"/>
              <a:t>Python</a:t>
            </a:r>
          </a:p>
          <a:p>
            <a:pPr marL="285750" indent="-285750">
              <a:lnSpc>
                <a:spcPct val="130000"/>
              </a:lnSpc>
              <a:buFont typeface="Arial"/>
              <a:buChar char="•"/>
            </a:pPr>
            <a:r>
              <a:rPr lang="en-US" sz="2000" b="1" dirty="0"/>
              <a:t>Data Handling: </a:t>
            </a:r>
            <a:r>
              <a:rPr lang="en-US" sz="2000" dirty="0"/>
              <a:t>Pandas, NumPy</a:t>
            </a:r>
          </a:p>
          <a:p>
            <a:pPr marL="285750" indent="-285750">
              <a:lnSpc>
                <a:spcPct val="130000"/>
              </a:lnSpc>
              <a:buFont typeface="Arial"/>
              <a:buChar char="•"/>
            </a:pPr>
            <a:r>
              <a:rPr lang="en-US" sz="2000" b="1" dirty="0"/>
              <a:t>Visualization: </a:t>
            </a:r>
            <a:r>
              <a:rPr lang="en-US" sz="2000" dirty="0"/>
              <a:t>Matplotlib, Seaborn</a:t>
            </a:r>
          </a:p>
          <a:p>
            <a:pPr marL="285750" indent="-285750">
              <a:lnSpc>
                <a:spcPct val="130000"/>
              </a:lnSpc>
              <a:buFont typeface="Arial"/>
              <a:buChar char="•"/>
            </a:pPr>
            <a:r>
              <a:rPr lang="en-US" sz="2000" b="1" dirty="0"/>
              <a:t>Development Environment: </a:t>
            </a:r>
            <a:r>
              <a:rPr lang="en-US" sz="2000" dirty="0"/>
              <a:t>Google Colab / Jupyter Notebook</a:t>
            </a:r>
          </a:p>
          <a:p>
            <a:pPr marL="285750" indent="-285750">
              <a:lnSpc>
                <a:spcPct val="130000"/>
              </a:lnSpc>
              <a:buFont typeface="Arial"/>
              <a:buChar char="•"/>
            </a:pPr>
            <a:r>
              <a:rPr lang="en-US" sz="2000" b="1" dirty="0"/>
              <a:t>Version Control &amp; Hosting: </a:t>
            </a:r>
            <a:r>
              <a:rPr lang="en-US" sz="2000" dirty="0"/>
              <a:t>Git, GitHub</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07164" y="1431693"/>
            <a:ext cx="8500000" cy="500000"/>
          </a:xfrm>
          <a:prstGeom prst="rect">
            <a:avLst/>
          </a:prstGeom>
          <a:noFill/>
        </p:spPr>
        <p:txBody>
          <a:bodyPr wrap="square">
            <a:spAutoFit/>
          </a:bodyPr>
          <a:lstStyle/>
          <a:p>
            <a:r>
              <a:rPr sz="2000">
                <a:solidFill>
                  <a:srgbClr val="000000"/>
                </a:solidFill>
              </a:rPr>
              <a:t>Distribution of Records: Season and Crop</a:t>
            </a:r>
          </a:p>
        </p:txBody>
      </p:sp>
      <p:pic>
        <p:nvPicPr>
          <p:cNvPr id="25" name="Picture 25" descr="cell30_season_count.png"/>
          <p:cNvPicPr>
            <a:picLocks noChangeAspect="1"/>
          </p:cNvPicPr>
          <p:nvPr/>
        </p:nvPicPr>
        <p:blipFill>
          <a:blip r:embed="rId3"/>
          <a:stretch>
            <a:fillRect/>
          </a:stretch>
        </p:blipFill>
        <p:spPr>
          <a:xfrm>
            <a:off x="675957" y="1950000"/>
            <a:ext cx="2913402" cy="2400000"/>
          </a:xfrm>
          <a:prstGeom prst="rect">
            <a:avLst/>
          </a:prstGeom>
        </p:spPr>
      </p:pic>
      <p:pic>
        <p:nvPicPr>
          <p:cNvPr id="26" name="Picture 26" descr="cell31_crop_count.png"/>
          <p:cNvPicPr>
            <a:picLocks noChangeAspect="1"/>
          </p:cNvPicPr>
          <p:nvPr/>
        </p:nvPicPr>
        <p:blipFill>
          <a:blip r:embed="rId4"/>
          <a:stretch>
            <a:fillRect/>
          </a:stretch>
        </p:blipFill>
        <p:spPr>
          <a:xfrm>
            <a:off x="3739359" y="1950000"/>
            <a:ext cx="4886486" cy="2400000"/>
          </a:xfrm>
          <a:prstGeom prst="rect">
            <a:avLst/>
          </a:prstGeom>
        </p:spPr>
      </p:pic>
      <p:sp>
        <p:nvSpPr>
          <p:cNvPr id="90" name="Conclusion Text 90"/>
          <p:cNvSpPr txBox="1"/>
          <p:nvPr/>
        </p:nvSpPr>
        <p:spPr>
          <a:xfrm>
            <a:off x="675957" y="4470000"/>
            <a:ext cx="8500000" cy="188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Kharif and Rabi dominate the sample, and all 8 crops are well represented across seasons — a broad enough base for reliable seasonal comparisons.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8500000" cy="500000"/>
          </a:xfrm>
        </p:spPr>
        <p:txBody>
          <a:bodyPr wrap="square"/>
          <a:lstStyle/>
          <a:p>
            <a:pPr marL="0" indent="0">
              <a:buNone/>
            </a:pPr>
            <a:r>
              <a:rPr lang="en-US" dirty="0"/>
              <a:t>Seasonal Yield &amp; Profit Comparison</a:t>
            </a:r>
            <a:endParaRPr lang="en-IN" dirty="0"/>
          </a:p>
        </p:txBody>
      </p:sp>
      <p:pic>
        <p:nvPicPr>
          <p:cNvPr id="31" name="Picture 30" descr="cell56_seasonal_yield_profit.png"/>
          <p:cNvPicPr>
            <a:picLocks noChangeAspect="1"/>
          </p:cNvPicPr>
          <p:nvPr/>
        </p:nvPicPr>
        <p:blipFill>
          <a:blip r:embed="rId3"/>
          <a:stretch>
            <a:fillRect/>
          </a:stretch>
        </p:blipFill>
        <p:spPr>
          <a:xfrm>
            <a:off x="675957" y="2000000"/>
            <a:ext cx="8500000" cy="3200388"/>
          </a:xfrm>
          <a:prstGeom prst="rect">
            <a:avLst/>
          </a:prstGeom>
        </p:spPr>
      </p:pic>
      <p:sp>
        <p:nvSpPr>
          <p:cNvPr id="91" name="Conclusion Text 91"/>
          <p:cNvSpPr txBox="1"/>
          <p:nvPr/>
        </p:nvSpPr>
        <p:spPr>
          <a:xfrm>
            <a:off x="675957" y="5320388"/>
            <a:ext cx="8500000" cy="1029612"/>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Kharif delivers both the highest yield and the only positive average profit; Zaid is the weakest season on both counts.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8500000" cy="500000"/>
          </a:xfrm>
        </p:spPr>
        <p:txBody>
          <a:bodyPr wrap="square"/>
          <a:lstStyle/>
          <a:p>
            <a:pPr marL="0" indent="0">
              <a:buNone/>
            </a:pPr>
            <a:r>
              <a:rPr lang="en-US" dirty="0"/>
              <a:t>Correlation Analysis of Key Variables</a:t>
            </a:r>
            <a:endParaRPr lang="en-IN" dirty="0"/>
          </a:p>
        </p:txBody>
      </p:sp>
      <p:pic>
        <p:nvPicPr>
          <p:cNvPr id="31" name="Picture 30" descr="cell50_correlation.png"/>
          <p:cNvPicPr>
            <a:picLocks noChangeAspect="1"/>
          </p:cNvPicPr>
          <p:nvPr/>
        </p:nvPicPr>
        <p:blipFill>
          <a:blip r:embed="rId3"/>
          <a:stretch>
            <a:fillRect/>
          </a:stretch>
        </p:blipFill>
        <p:spPr>
          <a:xfrm>
            <a:off x="2949937" y="2000000"/>
            <a:ext cx="3952039" cy="3300000"/>
          </a:xfrm>
          <a:prstGeom prst="rect">
            <a:avLst/>
          </a:prstGeom>
        </p:spPr>
      </p:pic>
      <p:sp>
        <p:nvSpPr>
          <p:cNvPr id="92" name="Conclusion Text 92"/>
          <p:cNvSpPr txBox="1"/>
          <p:nvPr/>
        </p:nvSpPr>
        <p:spPr>
          <a:xfrm>
            <a:off x="675957" y="5420000"/>
            <a:ext cx="8500000" cy="9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Water-use efficiency has the strongest link to yield (r ≈ 0.92) — far more than rainfall or fertilizer — so efficient water use, not raw input, drives output.</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8500000" cy="500000"/>
          </a:xfrm>
        </p:spPr>
        <p:txBody>
          <a:bodyPr wrap="square"/>
          <a:lstStyle/>
          <a:p>
            <a:pPr marL="0" indent="0">
              <a:buNone/>
            </a:pPr>
            <a:r>
              <a:rPr lang="en-US" dirty="0"/>
              <a:t>Irrigation Method: Average Yield</a:t>
            </a:r>
            <a:endParaRPr lang="en-IN" dirty="0"/>
          </a:p>
        </p:txBody>
      </p:sp>
      <p:pic>
        <p:nvPicPr>
          <p:cNvPr id="31" name="Picture 30" descr="cell59_irrigation_yield.png"/>
          <p:cNvPicPr>
            <a:picLocks noChangeAspect="1"/>
          </p:cNvPicPr>
          <p:nvPr/>
        </p:nvPicPr>
        <p:blipFill>
          <a:blip r:embed="rId3"/>
          <a:stretch>
            <a:fillRect/>
          </a:stretch>
        </p:blipFill>
        <p:spPr>
          <a:xfrm>
            <a:off x="2248158" y="2000000"/>
            <a:ext cx="5355598" cy="3300000"/>
          </a:xfrm>
          <a:prstGeom prst="rect">
            <a:avLst/>
          </a:prstGeom>
        </p:spPr>
      </p:pic>
      <p:sp>
        <p:nvSpPr>
          <p:cNvPr id="93" name="Conclusion Text 93"/>
          <p:cNvSpPr txBox="1"/>
          <p:nvPr/>
        </p:nvSpPr>
        <p:spPr>
          <a:xfrm>
            <a:off x="675957" y="5420000"/>
            <a:ext cx="8500000" cy="9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Drip irrigation consistently out-yields every other method, suggesting irrigation upgrades could lift output regardless of season.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8500000" cy="500000"/>
          </a:xfrm>
        </p:spPr>
        <p:txBody>
          <a:bodyPr wrap="square"/>
          <a:lstStyle/>
          <a:p>
            <a:pPr marL="0" indent="0">
              <a:buNone/>
            </a:pPr>
            <a:r>
              <a:rPr lang="en-US" dirty="0"/>
              <a:t>State-wise Profitability Across Seasons</a:t>
            </a:r>
            <a:endParaRPr lang="en-IN" dirty="0"/>
          </a:p>
        </p:txBody>
      </p:sp>
      <p:pic>
        <p:nvPicPr>
          <p:cNvPr id="31" name="Picture 30" descr="cell63_state_season.png"/>
          <p:cNvPicPr>
            <a:picLocks noChangeAspect="1"/>
          </p:cNvPicPr>
          <p:nvPr/>
        </p:nvPicPr>
        <p:blipFill>
          <a:blip r:embed="rId3"/>
          <a:stretch>
            <a:fillRect/>
          </a:stretch>
        </p:blipFill>
        <p:spPr>
          <a:xfrm>
            <a:off x="2963938" y="2000000"/>
            <a:ext cx="3924038" cy="3300000"/>
          </a:xfrm>
          <a:prstGeom prst="rect">
            <a:avLst/>
          </a:prstGeom>
        </p:spPr>
      </p:pic>
      <p:sp>
        <p:nvSpPr>
          <p:cNvPr id="94" name="Conclusion Text 94"/>
          <p:cNvSpPr txBox="1"/>
          <p:nvPr/>
        </p:nvSpPr>
        <p:spPr>
          <a:xfrm>
            <a:off x="675957" y="5420000"/>
            <a:ext cx="8500000" cy="9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Every state's weakest season is Zaid — Punjab is the only state that stays profitable across all three seasons.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 name="Future Scope Body"/>
          <p:cNvSpPr txBox="1"/>
          <p:nvPr/>
        </p:nvSpPr>
        <p:spPr>
          <a:xfrm>
            <a:off x="675957" y="2000000"/>
            <a:ext cx="10800000" cy="4300000"/>
          </a:xfrm>
          <a:prstGeom prst="rect">
            <a:avLst/>
          </a:prstGeom>
        </p:spPr>
        <p:txBody>
          <a:bodyPr wrap="square">
            <a:normAutofit/>
          </a:bodyPr>
          <a:lstStyle/>
          <a:p>
            <a:pPr marL="285750" indent="-285750">
              <a:lnSpc>
                <a:spcPct val="130000"/>
              </a:lnSpc>
              <a:buFont typeface="Arial"/>
              <a:buChar char="•"/>
            </a:pPr>
            <a:r>
              <a:rPr lang="en-US" sz="1800" dirty="0"/>
              <a:t>Extend the dataset to a multi-year time series to study year-on-year seasonal trends rather than a single-year snapshot.</a:t>
            </a:r>
          </a:p>
          <a:p>
            <a:pPr marL="285750" indent="-285750">
              <a:lnSpc>
                <a:spcPct val="130000"/>
              </a:lnSpc>
              <a:buFont typeface="Arial"/>
              <a:buChar char="•"/>
            </a:pPr>
            <a:r>
              <a:rPr lang="en-US" sz="1800" dirty="0"/>
              <a:t>Build an interactive dashboard (e.g. Power BI / Tableau) for real-time seasonal performance monitoring.</a:t>
            </a:r>
          </a:p>
          <a:p>
            <a:pPr marL="285750" indent="-285750">
              <a:lnSpc>
                <a:spcPct val="130000"/>
              </a:lnSpc>
              <a:buFont typeface="Arial"/>
              <a:buChar char="•"/>
            </a:pPr>
            <a:r>
              <a:rPr lang="en-US" sz="1800" dirty="0"/>
              <a:t>Incorporate weather forecast data to move from descriptive analysis toward predictive seasonal planning.</a:t>
            </a:r>
          </a:p>
          <a:p>
            <a:pPr marL="285750" indent="-285750">
              <a:lnSpc>
                <a:spcPct val="130000"/>
              </a:lnSpc>
              <a:buFont typeface="Arial"/>
              <a:buChar char="•"/>
            </a:pPr>
            <a:r>
              <a:rPr lang="en-US" sz="1800" dirty="0"/>
              <a:t>Expand coverage to more states, crops and irrigation methods for broader generalizability of the findings.</a:t>
            </a:r>
          </a:p>
          <a:p>
            <a:pPr marL="285750" indent="-285750">
              <a:lnSpc>
                <a:spcPct val="130000"/>
              </a:lnSpc>
              <a:buFont typeface="Arial"/>
              <a:buChar char="•"/>
            </a:pPr>
            <a:r>
              <a:rPr lang="en-US" sz="1800" dirty="0"/>
              <a:t>Investigate the disease/pest risk metric further with more granular, crop-specific data to explain its weak link with yield.</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9500000" cy="646331"/>
          </a:xfrm>
          <a:prstGeom prst="rect">
            <a:avLst/>
          </a:prstGeom>
          <a:noFill/>
        </p:spPr>
        <p:txBody>
          <a:bodyPr wrap="square">
            <a:spAutoFit/>
          </a:bodyPr>
          <a:lstStyle/>
          <a:p>
            <a:r>
              <a:rPr lang="en-US" dirty="0" b="1" sz="2000" u="sng">
                <a:solidFill>
                  <a:srgbClr val="1A0DAB"/>
                </a:solidFill>
                <a:hlinkClick xmlns:r="http://schemas.openxmlformats.org/officeDocument/2006/relationships" r:id="rId3"/>
              </a:rPr>
              <a:t>https://github.com/Sourav180410/Seasonal_Agriculture_Performance_Analysis_Sour.git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rtificate-1.png"/>
          <p:cNvPicPr>
            <a:picLocks noChangeAspect="1"/>
          </p:cNvPicPr>
          <p:nvPr/>
        </p:nvPicPr>
        <p:blipFill>
          <a:blip r:embed="rId3"/>
          <a:stretch>
            <a:fillRect/>
          </a:stretch>
        </p:blipFill>
        <p:spPr>
          <a:xfrm>
            <a:off x="1739431" y="1350000"/>
            <a:ext cx="7073052" cy="50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59" y="1900000"/>
            <a:ext cx="3750000" cy="4300000"/>
          </a:xfrm>
        </p:spPr>
        <p:txBody>
          <a:bodyPr>
            <a:normAutofit/>
          </a:bodyPr>
          <a:lstStyle/>
          <a:p>
            <a:pPr marL="228600" indent="-228600">
              <a:lnSpc>
                <a:spcPct val="112000"/>
              </a:lnSpc>
              <a:spcBef>
                <a:spcPts val="800"/>
              </a:spcBef>
              <a:buFont typeface="Arial"/>
              <a:buChar char="•"/>
            </a:pPr>
            <a:r>
              <a:rPr lang="en-US" sz="1500" b="1" dirty="0"/>
              <a:t>Kharif is the strongest season – </a:t>
            </a:r>
            <a:r>
              <a:rPr lang="en-US" sz="1500" dirty="0"/>
              <a:t>highest average yield (5.64 t/ha) and the only season with a positive average profit (₹1.79 lakh).</a:t>
            </a:r>
          </a:p>
          <a:p>
            <a:pPr marL="228600" indent="-228600">
              <a:lnSpc>
                <a:spcPct val="112000"/>
              </a:lnSpc>
              <a:spcBef>
                <a:spcPts val="800"/>
              </a:spcBef>
              <a:buFont typeface="Arial"/>
              <a:buChar char="•"/>
            </a:pPr>
            <a:r>
              <a:rPr lang="en-US" sz="1500" b="1" dirty="0"/>
              <a:t>Zaid is the weakest and riskiest – </a:t>
            </a:r>
            <a:r>
              <a:rPr lang="en-US" sz="1500" dirty="0"/>
              <a:t>negative average profit (-₹24.8k) with 64.5% of farms operating at a loss.</a:t>
            </a:r>
          </a:p>
          <a:p>
            <a:pPr marL="228600" indent="-228600">
              <a:lnSpc>
                <a:spcPct val="112000"/>
              </a:lnSpc>
              <a:spcBef>
                <a:spcPts val="800"/>
              </a:spcBef>
              <a:buFont typeface="Arial"/>
              <a:buChar char="•"/>
            </a:pPr>
            <a:r>
              <a:rPr lang="en-US" sz="1500" b="1" dirty="0"/>
              <a:t>Water-use efficiency drives yield – </a:t>
            </a:r>
            <a:r>
              <a:rPr lang="en-US" sz="1500" dirty="0"/>
              <a:t>far more than rainfall (r ≈ 0.92 vs. a much weaker rainfall link).</a:t>
            </a:r>
          </a:p>
          <a:p>
            <a:pPr marL="228600" indent="-228600">
              <a:lnSpc>
                <a:spcPct val="112000"/>
              </a:lnSpc>
              <a:spcBef>
                <a:spcPts val="800"/>
              </a:spcBef>
              <a:buFont typeface="Arial"/>
              <a:buChar char="•"/>
            </a:pPr>
            <a:r>
              <a:rPr lang="en-US" sz="1500" b="1" dirty="0"/>
              <a:t>Drip irrigation performs best – </a:t>
            </a:r>
            <a:r>
              <a:rPr lang="en-US" sz="1500" dirty="0"/>
              <a:t>it delivers the highest average yield (6.62 t/ha) of any irrigation method.</a:t>
            </a:r>
          </a:p>
        </p:txBody>
      </p:sp>
      <p:sp>
        <p:nvSpPr>
          <p:cNvPr id="21" name="Key Findings Right Column"/>
          <p:cNvSpPr txBox="1"/>
          <p:nvPr/>
        </p:nvSpPr>
        <p:spPr>
          <a:xfrm>
            <a:off x="4720000" y="1900000"/>
            <a:ext cx="3906000" cy="4300000"/>
          </a:xfrm>
          <a:prstGeom prst="rect">
            <a:avLst/>
          </a:prstGeom>
        </p:spPr>
        <p:txBody>
          <a:bodyPr wrap="square">
            <a:normAutofit/>
          </a:bodyPr>
          <a:lstStyle/>
          <a:p>
            <a:pPr marL="228600" indent="-228600">
              <a:lnSpc>
                <a:spcPct val="112000"/>
              </a:lnSpc>
              <a:spcBef>
                <a:spcPts val="800"/>
              </a:spcBef>
              <a:buFont typeface="Arial"/>
              <a:buChar char="•"/>
            </a:pPr>
            <a:r>
              <a:rPr lang="en-US" sz="1500" b="1" dirty="0"/>
              <a:t>Crop choice matters – </a:t>
            </a:r>
            <a:r>
              <a:rPr lang="en-US" sz="1500" dirty="0"/>
              <a:t>Sugarcane and Chilli stay profitable every season; Wheat, Rice and Maize show average losses.</a:t>
            </a:r>
          </a:p>
          <a:p>
            <a:pPr marL="228600" indent="-228600">
              <a:lnSpc>
                <a:spcPct val="112000"/>
              </a:lnSpc>
              <a:spcBef>
                <a:spcPts val="800"/>
              </a:spcBef>
              <a:buFont typeface="Arial"/>
              <a:buChar char="•"/>
            </a:pPr>
            <a:r>
              <a:rPr lang="en-US" sz="1500" b="1" dirty="0"/>
              <a:t>The Zaid slump is state-wide – </a:t>
            </a:r>
            <a:r>
              <a:rPr lang="en-US" sz="1500" dirty="0"/>
              <a:t>every state's lowest seasonal profit occurs in Zaid, except Punjab.</a:t>
            </a:r>
          </a:p>
          <a:p>
            <a:pPr marL="228600" indent="-228600">
              <a:lnSpc>
                <a:spcPct val="112000"/>
              </a:lnSpc>
              <a:spcBef>
                <a:spcPts val="800"/>
              </a:spcBef>
              <a:buFont typeface="Arial"/>
              <a:buChar char="•"/>
            </a:pPr>
            <a:r>
              <a:rPr lang="en-US" sz="1500" b="1" dirty="0"/>
              <a:t>Disease/pest risk barely matters – </a:t>
            </a:r>
            <a:r>
              <a:rPr lang="en-US" sz="1500" dirty="0"/>
              <a:t>it shows almost no correlation with yield (r ≈ 0.01).</a:t>
            </a:r>
          </a:p>
          <a:p>
            <a:pPr marL="228600" indent="-228600">
              <a:lnSpc>
                <a:spcPct val="112000"/>
              </a:lnSpc>
              <a:spcBef>
                <a:spcPts val="800"/>
              </a:spcBef>
              <a:buFont typeface="Arial"/>
              <a:buChar char="•"/>
            </a:pPr>
            <a:r>
              <a:rPr lang="en-US" sz="1500" b="1" dirty="0"/>
              <a:t>Profit follows revenue, not just yield – </a:t>
            </a:r>
            <a:r>
              <a:rPr lang="en-US" sz="1500" dirty="0"/>
              <a:t>profit tracks revenue and production volume more closely than yield alone.</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Key Findings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8500000" cy="500000"/>
          </a:xfrm>
        </p:spPr>
        <p:txBody>
          <a:bodyPr wrap="square"/>
          <a:lstStyle/>
          <a:p>
            <a:pPr marL="0" indent="0">
              <a:buNone/>
            </a:pPr>
            <a:r>
              <a:rPr lang="en-US" dirty="0"/>
              <a:t>Outlier Detection Across Key Metrics</a:t>
            </a:r>
            <a:endParaRPr lang="en-IN" dirty="0"/>
          </a:p>
        </p:txBody>
      </p:sp>
      <p:pic>
        <p:nvPicPr>
          <p:cNvPr id="31" name="Picture 30" descr="cell27_outliers.png"/>
          <p:cNvPicPr>
            <a:picLocks noChangeAspect="1"/>
          </p:cNvPicPr>
          <p:nvPr/>
        </p:nvPicPr>
        <p:blipFill>
          <a:blip r:embed="rId3"/>
          <a:stretch>
            <a:fillRect/>
          </a:stretch>
        </p:blipFill>
        <p:spPr>
          <a:xfrm>
            <a:off x="675957" y="2000000"/>
            <a:ext cx="8500000" cy="2648308"/>
          </a:xfrm>
          <a:prstGeom prst="rect">
            <a:avLst/>
          </a:prstGeom>
        </p:spPr>
      </p:pic>
      <p:sp>
        <p:nvSpPr>
          <p:cNvPr id="95" name="Conclusion Text 95"/>
          <p:cNvSpPr txBox="1"/>
          <p:nvPr/>
        </p:nvSpPr>
        <p:spPr>
          <a:xfrm>
            <a:off x="675957" y="4768308"/>
            <a:ext cx="8500000" cy="1581692"/>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Yield and Profit are heavily right-skewed by a handful of extreme farms — this is why median (not mean) was used to fill missing values.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8500000" cy="500000"/>
          </a:xfrm>
        </p:spPr>
        <p:txBody>
          <a:bodyPr wrap="square"/>
          <a:lstStyle/>
          <a:p>
            <a:pPr marL="0" indent="0">
              <a:buNone/>
            </a:pPr>
            <a:r>
              <a:rPr lang="en-US" dirty="0"/>
              <a:t>Crop Profitability &amp; Seasonal Loss Trends</a:t>
            </a:r>
            <a:endParaRPr lang="en-IN" dirty="0"/>
          </a:p>
        </p:txBody>
      </p:sp>
      <p:pic>
        <p:nvPicPr>
          <p:cNvPr id="31" name="Picture 31" descr="cell61_crop_profitability_table.png"/>
          <p:cNvPicPr>
            <a:picLocks noChangeAspect="1"/>
          </p:cNvPicPr>
          <p:nvPr/>
        </p:nvPicPr>
        <p:blipFill>
          <a:blip r:embed="rId3"/>
          <a:stretch>
            <a:fillRect/>
          </a:stretch>
        </p:blipFill>
        <p:spPr>
          <a:xfrm>
            <a:off x="675957" y="2000000"/>
            <a:ext cx="4461714" cy="2400000"/>
          </a:xfrm>
          <a:prstGeom prst="rect">
            <a:avLst/>
          </a:prstGeom>
        </p:spPr>
      </p:pic>
      <p:pic>
        <p:nvPicPr>
          <p:cNvPr id="32" name="Picture 32" descr="cell55_loss_pct.png"/>
          <p:cNvPicPr>
            <a:picLocks noChangeAspect="1"/>
          </p:cNvPicPr>
          <p:nvPr/>
        </p:nvPicPr>
        <p:blipFill>
          <a:blip r:embed="rId4"/>
          <a:stretch>
            <a:fillRect/>
          </a:stretch>
        </p:blipFill>
        <p:spPr>
          <a:xfrm>
            <a:off x="5287671" y="2000000"/>
            <a:ext cx="2910309" cy="2400000"/>
          </a:xfrm>
          <a:prstGeom prst="rect">
            <a:avLst/>
          </a:prstGeom>
        </p:spPr>
      </p:pic>
      <p:sp>
        <p:nvSpPr>
          <p:cNvPr id="96" name="Conclusion Text 96"/>
          <p:cNvSpPr txBox="1"/>
          <p:nvPr/>
        </p:nvSpPr>
        <p:spPr>
          <a:xfrm>
            <a:off x="675957" y="4520000"/>
            <a:ext cx="8500000" cy="1830000"/>
          </a:xfrm>
          <a:prstGeom prst="rect">
            <a:avLst/>
          </a:prstGeom>
        </p:spPr>
        <p:txBody>
          <a:bodyPr wrap="square">
            <a:normAutofit/>
          </a:bodyPr>
          <a:lstStyle/>
          <a:p>
            <a:r>
              <a:rPr lang="en-US" sz="1400" i="1" dirty="0">
                <a:solidFill>
                  <a:srgbClr val="404040"/>
                </a:solidFill>
              </a:rPr>
              <a:t>Takeaway: </a:t>
            </a:r>
            <a:r>
              <a:rPr lang="en-US" sz="1400" dirty="0">
                <a:solidFill>
                  <a:srgbClr val="404040"/>
                </a:solidFill>
              </a:rPr>
              <a:t>Sugarcane and Chilli stay profitable in every season while Wheat, Rice and Maize average losses — and loss-making farms nearly triple from Kharif (42.2%) to Zaid (64.5%).</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